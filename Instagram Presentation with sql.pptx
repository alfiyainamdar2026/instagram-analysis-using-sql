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8261-2509-5810-E334-7EC6582D9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81753-5E56-496D-C766-81287E0AD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2167-1C14-DDA3-7193-C8A02FCE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6603D-9DD9-BCCC-5218-6C6D4A16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545B6-AA2A-9F7A-06F1-C12CC5F8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1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3832-A136-FA80-EF7F-FFC1230B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20AB4-309C-CD67-B276-DE98B5EA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F80B6-08DE-9655-B24C-69FEFA13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A3F48-6245-6379-5C81-772254A1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A6253-1C2F-CB44-0591-A1283F29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61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C7DC-4A1B-CB24-1EB3-E1DC54E6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898E5-BEC1-861B-FD79-5CAD3ED35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2EB25-179F-D8BB-F64A-4EFD0DDD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603AE-BFA4-2D95-C8F0-6CF02F31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7589-C09B-E160-2677-D88A51D1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58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A730-DF9F-FAC1-FE47-C7A86C04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E9394-F5A8-7287-3680-22665DA9E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9512E-2053-E3FE-722B-5E7EB0176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30C3C-3792-24A6-C489-66A4796C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F33D-0279-7E77-D886-EC701771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91BFD-A807-1432-2913-5FC7A284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6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C908-4E84-5F22-3026-937E7487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501C0-A043-86E5-8B85-7B4E52B12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F3E22-47A7-780F-75FE-3273B6795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08805-5239-484B-4492-76EE6600C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8F76A-D1C9-A81D-F21F-844F5739D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8E88-C949-8711-26C9-9E3CC842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D88C4-DD38-07EB-5120-9BE2E4A1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C861E-43B7-E43E-AE81-44AC6CDB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99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46B8-82B1-2C51-3F1F-23A9719E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F8337-A841-A76B-7750-8A432967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1CEDA-FFEB-004D-A7F4-9D479679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F840A-9195-6690-0150-4048B3BA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36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54D7C-02A7-2E48-FD00-EF38DA96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0E76A-DBB5-4E66-259A-957FBB05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88F7-31DB-C9EB-0D71-A30449A7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20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1C07-9CAA-6B3F-DEEB-E4140B67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FBB7-1F9E-EA29-D2DC-E0307E6E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9AEA1-58C9-FC18-096A-E7E967F72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B73F4-F8E0-BEA0-FD03-250415DF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10F17-2F60-2D46-2E40-9B019A46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B4549-411B-76E4-2180-7F9CB49B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43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D7AB-924A-6598-F5A2-4FBB6FBD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C2174-7C41-EF61-74DD-4871219FF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ABF4B-F9B3-8D6F-78D5-88A37074D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81FA3-76B3-6A3C-FF97-D3EACEEA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00673-3390-2518-85B6-BD503E36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A8A42-7942-A407-8362-D87E73EB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47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E43E-6574-B4C7-CE71-1A99040B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4829F-B683-6C6A-139F-B39CF787A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0BFB-AD7D-5F01-79DD-53674162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0CB01-C1F3-5EA3-7DA3-2915A577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8FBC-B5FD-D96D-F279-59952DFB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A2FD8-8F40-7020-A835-8BB08A3FE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F4B30-9E37-6672-C372-36B63E848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AA6B9-ED88-A4AD-2C6C-02F1AE65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C6E98-60B6-A45F-A883-55FA7086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5160B-C191-D2C6-570F-3E24DE12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8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E1731-A842-126F-DD1A-AAAF8130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07F78-2A83-39EC-76B1-97E5F2022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247F8-46F8-6D14-E69C-DA01435BD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1EC0E-19A7-41F8-B4AD-D038828726C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86E10-CFF2-2198-D438-468C9072F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6D1AA-A8E2-3FC3-0A66-BF71EECA6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52461-7B03-49D8-9BB4-4334D9B11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03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1F01F7-B997-6F1A-7A6A-FA2125F7A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09EDFC-86E3-25C7-7B9E-8E55EBEF2219}"/>
              </a:ext>
            </a:extLst>
          </p:cNvPr>
          <p:cNvSpPr txBox="1"/>
          <p:nvPr/>
        </p:nvSpPr>
        <p:spPr>
          <a:xfrm>
            <a:off x="4430598" y="2686639"/>
            <a:ext cx="660818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Lucida Sans" panose="020B0602030504020204" pitchFamily="34" charset="0"/>
              </a:rPr>
              <a:t>Tech Instagram Influencer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899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41A2-0591-778B-C854-15D5BA09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6A83E-A120-2663-22A5-0F86E3C16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6BE93-ED93-DCD2-08F3-17891A4DDEE4}"/>
              </a:ext>
            </a:extLst>
          </p:cNvPr>
          <p:cNvSpPr txBox="1"/>
          <p:nvPr/>
        </p:nvSpPr>
        <p:spPr>
          <a:xfrm>
            <a:off x="1498863" y="452487"/>
            <a:ext cx="1013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1. How many unique post types are found in the '</a:t>
            </a:r>
            <a:r>
              <a:rPr lang="en-US" sz="2400" dirty="0" err="1">
                <a:solidFill>
                  <a:schemeClr val="bg1"/>
                </a:solidFill>
              </a:rPr>
              <a:t>fact_content</a:t>
            </a:r>
            <a:r>
              <a:rPr lang="en-US" sz="2400" dirty="0">
                <a:solidFill>
                  <a:schemeClr val="bg1"/>
                </a:solidFill>
              </a:rPr>
              <a:t>' table?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59B10-6B1C-7F36-BD09-1318CFEF6D1D}"/>
              </a:ext>
            </a:extLst>
          </p:cNvPr>
          <p:cNvSpPr txBox="1"/>
          <p:nvPr/>
        </p:nvSpPr>
        <p:spPr>
          <a:xfrm>
            <a:off x="1989056" y="2130458"/>
            <a:ext cx="3007150" cy="1434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distinct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;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8109B-7378-81C0-8A80-B4D77F28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299" y="2205872"/>
            <a:ext cx="2055398" cy="196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0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EB99-560F-6CDE-7C57-250D1242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9EC8D2-144E-606D-1500-0E8A155D1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EB61FD-6FAB-C6EE-F7A9-8F576D23DCCF}"/>
              </a:ext>
            </a:extLst>
          </p:cNvPr>
          <p:cNvSpPr txBox="1"/>
          <p:nvPr/>
        </p:nvSpPr>
        <p:spPr>
          <a:xfrm>
            <a:off x="1498863" y="452487"/>
            <a:ext cx="1013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2. What are the highest and lowest recorded impressions for each post type?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46FC2-B2EA-D502-63C0-0BE34527D2AF}"/>
              </a:ext>
            </a:extLst>
          </p:cNvPr>
          <p:cNvSpPr txBox="1"/>
          <p:nvPr/>
        </p:nvSpPr>
        <p:spPr>
          <a:xfrm>
            <a:off x="1018095" y="2130458"/>
            <a:ext cx="5222449" cy="225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max(impressions) as highest,   min(impressions) as lowest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58D63-D7FA-FD8F-552E-1C75A0184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213" y="2413262"/>
            <a:ext cx="2390810" cy="225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4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078B-6B06-F17E-0AF1-7BC703EE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CEA742-966F-782E-11FA-F2654031E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BE6BBC-96FF-D94B-6A3B-3C4C10B24D08}"/>
              </a:ext>
            </a:extLst>
          </p:cNvPr>
          <p:cNvSpPr txBox="1"/>
          <p:nvPr/>
        </p:nvSpPr>
        <p:spPr>
          <a:xfrm>
            <a:off x="1498863" y="452487"/>
            <a:ext cx="10133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3. Filter all the posts that were published on a weekend in the month of March and April and export them to a separate csv file.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A5DF4-A357-179D-9ADB-12457BB50823}"/>
              </a:ext>
            </a:extLst>
          </p:cNvPr>
          <p:cNvSpPr txBox="1"/>
          <p:nvPr/>
        </p:nvSpPr>
        <p:spPr>
          <a:xfrm>
            <a:off x="810705" y="2130458"/>
            <a:ext cx="5099901" cy="308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a.*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('March', 'April') AND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weekday_or_weekend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'weekend';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54D14-17EA-5393-2D08-2A7E84F1A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06" y="1847653"/>
            <a:ext cx="5839270" cy="38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4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charRg st="8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75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charRg st="75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charRg st="75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charRg st="75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FE64-0FBC-E320-8514-D5549929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3761D-60D8-9B7B-EFBC-1B2C7DF9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E9CE57-4219-CB2E-E522-7F9F49470FD3}"/>
              </a:ext>
            </a:extLst>
          </p:cNvPr>
          <p:cNvSpPr txBox="1"/>
          <p:nvPr/>
        </p:nvSpPr>
        <p:spPr>
          <a:xfrm>
            <a:off x="1423449" y="92829"/>
            <a:ext cx="10133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4. Create a report to get the statistics for the account. The final output includes the following fields: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• </a:t>
            </a:r>
            <a:r>
              <a:rPr lang="en-US" sz="2400" dirty="0" err="1">
                <a:solidFill>
                  <a:schemeClr val="bg1"/>
                </a:solidFill>
              </a:rPr>
              <a:t>month_name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total_profile_visits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total_new_followers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D6AA9-1521-9CE8-21D3-2455916FF9DE}"/>
              </a:ext>
            </a:extLst>
          </p:cNvPr>
          <p:cNvSpPr txBox="1"/>
          <p:nvPr/>
        </p:nvSpPr>
        <p:spPr>
          <a:xfrm>
            <a:off x="810705" y="2130458"/>
            <a:ext cx="5099901" cy="350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month_name,sum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profile_visits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total_profile_visits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sum(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new_followers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total_new_followers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fact_account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40A21-5D45-D7E9-6F26-FA79097BC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356" y="2441431"/>
            <a:ext cx="4715533" cy="30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6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1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charRg st="11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charRg st="11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charRg st="11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35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charRg st="135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charRg st="135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charRg st="135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52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charRg st="152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charRg st="152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charRg st="152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71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charRg st="171" end="1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charRg st="171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charRg st="171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5198-C4DA-81A9-5764-B0056BB2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0F7D62-6414-167C-796E-F18A04354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9077FC-0DCA-F00C-D7A5-263521030FB5}"/>
              </a:ext>
            </a:extLst>
          </p:cNvPr>
          <p:cNvSpPr txBox="1"/>
          <p:nvPr/>
        </p:nvSpPr>
        <p:spPr>
          <a:xfrm>
            <a:off x="1423449" y="92829"/>
            <a:ext cx="10133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5. Write a CTE that calculates the total number of 'likes’ for each '</a:t>
            </a:r>
            <a:r>
              <a:rPr lang="en-US" sz="2400" dirty="0" err="1">
                <a:solidFill>
                  <a:schemeClr val="bg1"/>
                </a:solidFill>
              </a:rPr>
              <a:t>post_category</a:t>
            </a:r>
            <a:r>
              <a:rPr lang="en-US" sz="2400" dirty="0">
                <a:solidFill>
                  <a:schemeClr val="bg1"/>
                </a:solidFill>
              </a:rPr>
              <a:t>' during the month of 'July' and subsequently, arrange the '</a:t>
            </a:r>
            <a:r>
              <a:rPr lang="en-US" sz="2400" dirty="0" err="1">
                <a:solidFill>
                  <a:schemeClr val="bg1"/>
                </a:solidFill>
              </a:rPr>
              <a:t>post_category</a:t>
            </a:r>
            <a:r>
              <a:rPr lang="en-US" sz="2400" dirty="0">
                <a:solidFill>
                  <a:schemeClr val="bg1"/>
                </a:solidFill>
              </a:rPr>
              <a:t>' values in descending order according to their total likes.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EBA14-3934-BC08-08BB-6C4B51F9AFFD}"/>
              </a:ext>
            </a:extLst>
          </p:cNvPr>
          <p:cNvSpPr txBox="1"/>
          <p:nvPr/>
        </p:nvSpPr>
        <p:spPr>
          <a:xfrm>
            <a:off x="597866" y="1492980"/>
            <a:ext cx="5297864" cy="516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category_likes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SUM(likes)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 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total_likes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   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'July'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*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category_likes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total_likes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3FDA5-3CD5-E31C-88A1-AEB04FB65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107" y="2562103"/>
            <a:ext cx="2610214" cy="318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55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8E31-8414-54BA-8776-7F25868A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D151C-1121-7F5E-03AB-9C312E871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E53B04-F7BE-1049-B8EC-E61DF9BDB8B2}"/>
              </a:ext>
            </a:extLst>
          </p:cNvPr>
          <p:cNvSpPr txBox="1"/>
          <p:nvPr/>
        </p:nvSpPr>
        <p:spPr>
          <a:xfrm>
            <a:off x="1423449" y="92829"/>
            <a:ext cx="10133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6. Create a report that displays the unique </a:t>
            </a:r>
            <a:r>
              <a:rPr lang="en-US" sz="2400" dirty="0" err="1">
                <a:solidFill>
                  <a:schemeClr val="bg1"/>
                </a:solidFill>
              </a:rPr>
              <a:t>post_category</a:t>
            </a:r>
            <a:r>
              <a:rPr lang="en-US" sz="2400" dirty="0">
                <a:solidFill>
                  <a:schemeClr val="bg1"/>
                </a:solidFill>
              </a:rPr>
              <a:t> names alongside their respective counts for each month. The output should have three columns: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 </a:t>
            </a:r>
            <a:r>
              <a:rPr lang="en-US" sz="2400" dirty="0" err="1">
                <a:solidFill>
                  <a:schemeClr val="bg1"/>
                </a:solidFill>
              </a:rPr>
              <a:t>month_name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post_category_names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post_category_count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6A022-7DAD-615D-6554-B0341A33677E}"/>
              </a:ext>
            </a:extLst>
          </p:cNvPr>
          <p:cNvSpPr txBox="1"/>
          <p:nvPr/>
        </p:nvSpPr>
        <p:spPr>
          <a:xfrm>
            <a:off x="597866" y="1492980"/>
            <a:ext cx="5297864" cy="350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group_concat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(distinct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', ')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count(distinct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post_category_count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892BE-7D41-EE54-2FF9-5612CA1CE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69008"/>
            <a:ext cx="5583937" cy="299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05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1591-20E2-345B-263B-C24BB653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19E5E0-1E74-BCB1-764A-2945796FD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D565C3-99D9-FA8F-CE0A-5A444D8CA277}"/>
              </a:ext>
            </a:extLst>
          </p:cNvPr>
          <p:cNvSpPr txBox="1"/>
          <p:nvPr/>
        </p:nvSpPr>
        <p:spPr>
          <a:xfrm>
            <a:off x="1423449" y="92829"/>
            <a:ext cx="10133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7. What is the percentage breakdown of total reach by post type? The final output includes the following fields: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• </a:t>
            </a:r>
            <a:r>
              <a:rPr lang="en-US" sz="2400" dirty="0" err="1">
                <a:solidFill>
                  <a:schemeClr val="bg1"/>
                </a:solidFill>
              </a:rPr>
              <a:t>post_type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total_reach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reach_percentage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03CA8-23AF-70C9-4697-B49C32B739AD}"/>
              </a:ext>
            </a:extLst>
          </p:cNvPr>
          <p:cNvSpPr txBox="1"/>
          <p:nvPr/>
        </p:nvSpPr>
        <p:spPr>
          <a:xfrm>
            <a:off x="999242" y="2356001"/>
            <a:ext cx="5168904" cy="350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SUM(reach)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total_reach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 ROUND(SUM(reach) * 100.0 / (SELECT SUM(reach) FROM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2)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reach_percentage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F0A9B-2F87-88D7-1400-B88389D5C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60" y="2798769"/>
            <a:ext cx="3639058" cy="236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0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8613-4184-317E-DD8D-9FAFE5DF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009642-5AFF-C188-4483-06149DB2C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6AE494-7172-4E89-CA0D-E3E518A11BF5}"/>
              </a:ext>
            </a:extLst>
          </p:cNvPr>
          <p:cNvSpPr txBox="1"/>
          <p:nvPr/>
        </p:nvSpPr>
        <p:spPr>
          <a:xfrm>
            <a:off x="1423449" y="92829"/>
            <a:ext cx="10133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8. Create a report that includes the quarter, total comments, and total saves recorded for each post category. Assign the following quarter groupings: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final output columns should consist of: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dirty="0" err="1">
                <a:solidFill>
                  <a:schemeClr val="bg1"/>
                </a:solidFill>
              </a:rPr>
              <a:t>post_category</a:t>
            </a:r>
            <a:r>
              <a:rPr lang="en-US" sz="2400" dirty="0">
                <a:solidFill>
                  <a:schemeClr val="bg1"/>
                </a:solidFill>
              </a:rPr>
              <a:t>  • quarter  • </a:t>
            </a:r>
            <a:r>
              <a:rPr lang="en-US" sz="2400" dirty="0" err="1">
                <a:solidFill>
                  <a:schemeClr val="bg1"/>
                </a:solidFill>
              </a:rPr>
              <a:t>total_comments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total_saves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E2EFF-9E26-F931-2528-AC99693C43E0}"/>
              </a:ext>
            </a:extLst>
          </p:cNvPr>
          <p:cNvSpPr txBox="1"/>
          <p:nvPr/>
        </p:nvSpPr>
        <p:spPr>
          <a:xfrm>
            <a:off x="927096" y="1582589"/>
            <a:ext cx="516890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	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('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January','February','March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’)</a:t>
            </a:r>
          </a:p>
          <a:p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'Q1'      </a:t>
            </a:r>
          </a:p>
          <a:p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('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April','May','June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')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'Q2'       </a:t>
            </a:r>
          </a:p>
          <a:p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('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July','August','September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’)</a:t>
            </a:r>
          </a:p>
          <a:p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'Q3’	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Quaters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</a:t>
            </a:r>
          </a:p>
          <a:p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SUM(comments) AS Total_Comments,    SUM(saves) AS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Total_save</a:t>
            </a: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post_category,Quarters</a:t>
            </a: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Quaters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GB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92049-C478-8031-3602-9E5ABB334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356" y="2260417"/>
            <a:ext cx="5020376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85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AE03-8099-4C37-7252-7CAD33BB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6B311-2275-4F7F-B05D-C3F18A461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E97B17-F4BA-384E-EE64-628E2EB1E0F7}"/>
              </a:ext>
            </a:extLst>
          </p:cNvPr>
          <p:cNvSpPr txBox="1"/>
          <p:nvPr/>
        </p:nvSpPr>
        <p:spPr>
          <a:xfrm>
            <a:off x="1423449" y="92829"/>
            <a:ext cx="10133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9. List the top three dates in each month with the highest number of new followers. The final output should include the following columns: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month  • date  • </a:t>
            </a:r>
            <a:r>
              <a:rPr lang="en-US" sz="2400" dirty="0" err="1">
                <a:solidFill>
                  <a:schemeClr val="bg1"/>
                </a:solidFill>
              </a:rPr>
              <a:t>new_followers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DC844-2AAA-2765-0218-04535F568942}"/>
              </a:ext>
            </a:extLst>
          </p:cNvPr>
          <p:cNvSpPr txBox="1"/>
          <p:nvPr/>
        </p:nvSpPr>
        <p:spPr>
          <a:xfrm>
            <a:off x="927096" y="1582589"/>
            <a:ext cx="51689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follower_rnk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month_name,a.date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date,</a:t>
            </a: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SUM(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new_followers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total_new_followers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	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dense_rank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partition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b.month_name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order by SUM(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new_followers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desc)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rnk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fact_account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b.month_name,b.date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month_name,date,total_new_followers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follower_rnk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rnk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&lt;=3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CB3A1F-3CEF-FEE1-91B0-A7CDD7B73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53" y="1625479"/>
            <a:ext cx="3562847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29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5970-F800-531B-C9DB-F9F5FCA8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831F87-AF08-4F72-23E5-A232BB908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0D43C-3A03-DFD7-8C3F-DF6FDBF20169}"/>
              </a:ext>
            </a:extLst>
          </p:cNvPr>
          <p:cNvSpPr txBox="1"/>
          <p:nvPr/>
        </p:nvSpPr>
        <p:spPr>
          <a:xfrm>
            <a:off x="1423449" y="92829"/>
            <a:ext cx="10133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10. Create a stored procedure that takes the '</a:t>
            </a:r>
            <a:r>
              <a:rPr lang="en-US" sz="2400" dirty="0" err="1">
                <a:solidFill>
                  <a:schemeClr val="bg1"/>
                </a:solidFill>
              </a:rPr>
              <a:t>Week_no</a:t>
            </a:r>
            <a:r>
              <a:rPr lang="en-US" sz="2400" dirty="0">
                <a:solidFill>
                  <a:schemeClr val="bg1"/>
                </a:solidFill>
              </a:rPr>
              <a:t>' as input and generates a report displaying the total shares for each '</a:t>
            </a:r>
            <a:r>
              <a:rPr lang="en-US" sz="2400" dirty="0" err="1">
                <a:solidFill>
                  <a:schemeClr val="bg1"/>
                </a:solidFill>
              </a:rPr>
              <a:t>Post_type</a:t>
            </a:r>
            <a:r>
              <a:rPr lang="en-US" sz="2400" dirty="0">
                <a:solidFill>
                  <a:schemeClr val="bg1"/>
                </a:solidFill>
              </a:rPr>
              <a:t>'. The output of the procedure should consist of two columns: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• </a:t>
            </a:r>
            <a:r>
              <a:rPr lang="en-US" sz="2400" dirty="0" err="1">
                <a:solidFill>
                  <a:schemeClr val="bg1"/>
                </a:solidFill>
              </a:rPr>
              <a:t>post_type</a:t>
            </a:r>
            <a:r>
              <a:rPr lang="en-US" sz="2400" dirty="0">
                <a:solidFill>
                  <a:schemeClr val="bg1"/>
                </a:solidFill>
              </a:rPr>
              <a:t>  • </a:t>
            </a:r>
            <a:r>
              <a:rPr lang="en-US" sz="2400" dirty="0" err="1">
                <a:solidFill>
                  <a:schemeClr val="bg1"/>
                </a:solidFill>
              </a:rPr>
              <a:t>total_shares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0B207-A713-78E3-E091-2CB4F7BFA309}"/>
              </a:ext>
            </a:extLst>
          </p:cNvPr>
          <p:cNvSpPr txBox="1"/>
          <p:nvPr/>
        </p:nvSpPr>
        <p:spPr>
          <a:xfrm>
            <a:off x="927096" y="1582589"/>
            <a:ext cx="51689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Query: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DELIMITER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PROCEDURE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get_total_shares_by_week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input_week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VARCHAR(5))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BEGIN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    SUM(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a.shares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total_shares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    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b.date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b.week_no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input_week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a.post_type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DELIMITER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;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gdb0120.get_total_shares_by_week('W2');</a:t>
            </a:r>
            <a:endParaRPr lang="en-GB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B045A-0EC2-7EC5-EA02-9F1A8A6B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802" y="2818615"/>
            <a:ext cx="2476846" cy="19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51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1013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Lucida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Aatif Shaikh</dc:creator>
  <cp:lastModifiedBy>Aatif Shaikh</cp:lastModifiedBy>
  <cp:revision>8</cp:revision>
  <dcterms:created xsi:type="dcterms:W3CDTF">2026-04-26T11:36:34Z</dcterms:created>
  <dcterms:modified xsi:type="dcterms:W3CDTF">2026-04-26T13:35:57Z</dcterms:modified>
</cp:coreProperties>
</file>